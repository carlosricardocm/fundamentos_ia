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57400"/>
            <a:ext cx="146304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95728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0B0B0B"/>
                </a:solidFill>
                <a:latin typeface="Segoe UI"/>
              </a:rPr>
              <a:t>Desempeño de ingresos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118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Análisis del ingreso mensual por región · enero a diciembre de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709160"/>
            <a:ext cx="2487168" cy="96012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709160"/>
            <a:ext cx="41148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48646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898781"/>
                </a:solidFill>
                <a:latin typeface="Segoe UI"/>
              </a:rPr>
              <a:t>INGRESO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513892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B0B0B"/>
                </a:solidFill>
                <a:latin typeface="Segoe UI"/>
              </a:rPr>
              <a:t>$7,020,942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709160"/>
            <a:ext cx="2487168" cy="96012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4709160"/>
            <a:ext cx="41148" cy="960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48646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898781"/>
                </a:solidFill>
                <a:latin typeface="Segoe UI"/>
              </a:rPr>
              <a:t>CRECIMIENTO ANUAL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513892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B0B0B"/>
                </a:solidFill>
                <a:latin typeface="Segoe UI"/>
              </a:rPr>
              <a:t>+69.7%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7608" y="4709160"/>
            <a:ext cx="2487168" cy="96012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4709160"/>
            <a:ext cx="41148" cy="960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48646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898781"/>
                </a:solidFill>
                <a:latin typeface="Segoe UI"/>
              </a:rPr>
              <a:t>REGIÓN LÍDER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513892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B0B0B"/>
                </a:solidFill>
                <a:latin typeface="Segoe UI"/>
              </a:rPr>
              <a:t>Centro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8512" y="4709160"/>
            <a:ext cx="2487168" cy="96012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68512" y="4709160"/>
            <a:ext cx="41148" cy="96012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486460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>
                <a:solidFill>
                  <a:srgbClr val="898781"/>
                </a:solidFill>
                <a:latin typeface="Segoe UI"/>
              </a:rPr>
              <a:t>REGIONES ·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513892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0B0B0B"/>
                </a:solidFill>
                <a:latin typeface="Segoe UI"/>
              </a:rPr>
              <a:t>4 ·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447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98781"/>
                </a:solidFill>
                <a:latin typeface="Segoe UI"/>
              </a:rPr>
              <a:t>Fuente: ingresos_mensuales.csv · 48 registros (12 meses × 4 regiones), sin valores faltantes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ingreso_por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50" y="384048"/>
            <a:ext cx="8610795" cy="4526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266944"/>
            <a:ext cx="4114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221224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El ingreso mensual pasa de $481,686 en enero a $817,506 en diciembre, un avance de 69.7% en el año. El único retroceso relevante ocurre entre junio y julio (−5.3% y −7.4%), después del máximo parcial de mayo. A partir de agosto la curva se acelera y el segundo semestre cierra 23.0% por encima del primero.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Desempeño de ingresos 2024  ·  Fuente: ingresos_mensuales.csv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ingreso_por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19" y="384048"/>
            <a:ext cx="8690457" cy="4526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266944"/>
            <a:ext cx="4114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221224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Centro aporta $2,464,862, equivalente al 35.1% del ingreso anual, y es la única región por encima de los 2 millones de dólares. Sur cierra en $1,232,957 (17.6%), prácticamente la mitad de lo que genera Centro. Las cuatro regiones crecieron a un ritmo parecido entre enero y diciembre (68% a 75%), así que la brecha responde al tamaño de cada mercado y no a su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Desempeño de ingresos 2024  ·  Fuente: ingresos_mensuales.csv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_mapa_calor_me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697" y="384048"/>
            <a:ext cx="6512300" cy="4526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266944"/>
            <a:ext cx="4114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221224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El tono se oscurece de arriba hacia abajo en las cuatro columnas: el patrón estacional es común a todas las regiones y no un efecto local. Las franjas más claras aparecen en febrero y julio, y las más oscuras en noviembre y diciembre, cuando Centro alcanza $291k en un solo mes. Sur conserva el tono más claro durante todo el año, en un rango de $82k a $138k.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Desempeño de ingresos 2024  ·  Fuente: ingresos_mensuales.csv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_resumen_indic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12" y="384048"/>
            <a:ext cx="8480271" cy="4526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266944"/>
            <a:ext cx="41148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221224"/>
            <a:ext cx="105156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El año cierra con $7,020,942 de ingreso, 46,102 unidades vendidas y 5,167 clientes nuevos. El ticket promedio es de $152.29 y se mantiene casi idéntico en las cuatro regiones ($148.72 a $154.58), de modo que el crecimiento proviene del volumen y no del precio. La tendencia mensual confirma que la aceleración se concentra en el último trimestre.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Desempeño de ingresos 2024  ·  Fuente: ingresos_mensuales.csv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146304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0B0B0B"/>
                </a:solidFill>
                <a:latin typeface="Segoe UI"/>
              </a:rPr>
              <a:t>Tres hallazgos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179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Lo que el año 2024 deja como conclusión para la planeación del siguiente ciclo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29968"/>
            <a:ext cx="10817352" cy="1261872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29968"/>
            <a:ext cx="50292" cy="12618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212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19456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0B0B0B"/>
                </a:solidFill>
                <a:latin typeface="Segoe UI"/>
              </a:rPr>
              <a:t>El crecimiento es real y sostenido, no un pico de fin de 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96896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El ingreso crece 69.7% entre enero ($481,686) y diciembre ($817,506), y el segundo semestre supera al primero en 23.0% ($3,872,535 contra $3,148,406). La tendencia es ascendente en 8 de los 11 cambios mensuales del año.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56432"/>
            <a:ext cx="10817352" cy="1261872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456432"/>
            <a:ext cx="50292" cy="126187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6393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EB6834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21024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0B0B0B"/>
                </a:solidFill>
                <a:latin typeface="Segoe UI"/>
              </a:rPr>
              <a:t>El ingreso está concentrado: Centro vale el doble que Sur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023360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Centro genera $2,464,862 (35.1% del total) frente a los $1,232,957 de Sur (17.6%). Como las cuatro regiones crecen a un ritmo similar, la concentración se mantendrá salvo que se actúe sobre Sur y Occidente.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882896"/>
            <a:ext cx="10817352" cy="1261872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882896"/>
            <a:ext cx="50292" cy="126187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657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BAF7A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50474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1">
                <a:solidFill>
                  <a:srgbClr val="0B0B0B"/>
                </a:solidFill>
                <a:latin typeface="Segoe UI"/>
              </a:rPr>
              <a:t>El motor es el volumen, no el precio; y hay un valle en junio-julio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449824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2514E"/>
                </a:solidFill>
                <a:latin typeface="Segoe UI"/>
              </a:rPr>
              <a:t>El ticket promedio apenas varía entre regiones ($148.72 a $154.58), así que el crecimiento viene de vender más unidades. El único tramo negativo del año es junio-julio (−5.3% y −7.4%), un valle estacional que conviene cubrir con acciones comerciales.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ingresos_mensuales.csv · 48 registros (12 meses × 4 regiones)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